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C2D4A"/>
              </a:gs>
              <a:gs pos="100000">
                <a:srgbClr val="2E86C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10972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5C1E9"/>
                </a:solidFill>
                <a:latin typeface="Yu Gothic"/>
              </a:defRPr>
            </a:pPr>
            <a:r>
              <a:t>PROPOSAL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Yu Gothic"/>
              </a:defRPr>
            </a:pPr>
            <a:r>
              <a:t>AI活用による</a:t>
            </a:r>
            <a:br/>
            <a:r>
              <a:t>業務効率化提案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3474720"/>
            <a:ext cx="1554480" cy="38100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749039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Yu Gothic"/>
              </a:defRPr>
            </a:pPr>
            <a:r>
              <a:t>経営企画部 御中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0292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5C1E9"/>
                </a:solidFill>
                <a:latin typeface="Yu Gothic"/>
              </a:defRPr>
            </a:pPr>
            <a:r>
              <a:t>2026年3月14日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2E86C1"/>
              </a:gs>
              <a:gs pos="100000">
                <a:srgbClr val="17A2B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34068"/>
                </a:solidFill>
                <a:latin typeface="Yu Gothic"/>
              </a:defRPr>
            </a:pPr>
            <a:r>
              <a:t>エグゼクティブサマリー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800" cy="7315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10652759" cy="73152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332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Yu Gothic"/>
              </a:defRPr>
            </a:pPr>
            <a:r>
              <a:t>AI導入により年間約4,800時間の業務削減と1.2億円のコスト効果を見込む。定型業務の自動化・データ分析の高度化・社内ナレッジ活用を3本柱に、6ヶ月で段階導入。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3291840" cy="13716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471A3"/>
                </a:solidFill>
                <a:latin typeface="Yu Gothic"/>
              </a:defRPr>
            </a:pPr>
            <a: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7E"/>
                </a:solidFill>
                <a:latin typeface="Yu Gothic"/>
              </a:defRPr>
            </a:pPr>
            <a:r>
              <a:t>定型業務の削減率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AE60"/>
                </a:solidFill>
                <a:latin typeface="Yu Gothic"/>
              </a:defRPr>
            </a:pPr>
            <a:r>
              <a:t>前年比+18pt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77440"/>
            <a:ext cx="3291840" cy="13716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5603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471A3"/>
                </a:solidFill>
                <a:latin typeface="Yu Gothic"/>
              </a:defRPr>
            </a:pPr>
            <a:r>
              <a:t>1.2億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154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7E"/>
                </a:solidFill>
                <a:latin typeface="Yu Gothic"/>
              </a:defRPr>
            </a:pPr>
            <a:r>
              <a:t>年間コスト効果（円）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4290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AE60"/>
                </a:solidFill>
                <a:latin typeface="Yu Gothic"/>
              </a:defRPr>
            </a:pPr>
            <a:r>
              <a:t>ROI 340%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377440"/>
            <a:ext cx="3291840" cy="13716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5603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471A3"/>
                </a:solidFill>
                <a:latin typeface="Yu Gothic"/>
              </a:defRPr>
            </a:pPr>
            <a:r>
              <a:t>6ヶ月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154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7E"/>
                </a:solidFill>
                <a:latin typeface="Yu Gothic"/>
              </a:defRPr>
            </a:pPr>
            <a:r>
              <a:t>導入完了まで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4290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AE60"/>
                </a:solidFill>
                <a:latin typeface="Yu Gothic"/>
              </a:defRPr>
            </a:pPr>
            <a:r>
              <a:t>回収8ヶ月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34068"/>
              </a:gs>
              <a:gs pos="100000">
                <a:srgbClr val="2471A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5486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0" b="1">
                <a:solidFill>
                  <a:srgbClr val="FFFFFF"/>
                </a:solidFill>
                <a:latin typeface="Yu Gothic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現状分析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5661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5C1E9"/>
                </a:solidFill>
                <a:latin typeface="Yu Gothic"/>
              </a:defRPr>
            </a:pPr>
            <a:r>
              <a:t>業務課題の定量的把握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2E86C1"/>
              </a:gs>
              <a:gs pos="100000">
                <a:srgbClr val="17A2B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34068"/>
                </a:solidFill>
                <a:latin typeface="Yu Gothic"/>
              </a:defRPr>
            </a:pPr>
            <a:r>
              <a:t>部門別 非効率業務の発生状況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Yu Gothic"/>
              </a:defRPr>
            </a:pPr>
            <a:r>
              <a:t>経理・財務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1417320"/>
            <a:ext cx="3383280" cy="256032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94560" y="1417320"/>
            <a:ext cx="2638958" cy="256032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417320"/>
            <a:ext cx="25932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78%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3716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A5276"/>
                </a:solidFill>
                <a:latin typeface="Yu Gothic"/>
              </a:defRPr>
            </a:pPr>
            <a:r>
              <a:t>月62h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Yu Gothic"/>
              </a:defRPr>
            </a:pPr>
            <a:r>
              <a:t>営業・マーケ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1920239"/>
            <a:ext cx="3383280" cy="256032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94560" y="1920239"/>
            <a:ext cx="2199132" cy="256032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920239"/>
            <a:ext cx="21534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65%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874519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A5276"/>
                </a:solidFill>
                <a:latin typeface="Yu Gothic"/>
              </a:defRPr>
            </a:pPr>
            <a:r>
              <a:t>月48h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77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Yu Gothic"/>
              </a:defRPr>
            </a:pPr>
            <a:r>
              <a:t>人事・総務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2423160"/>
            <a:ext cx="3383280" cy="256032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94560" y="2423160"/>
            <a:ext cx="1962302" cy="256032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423160"/>
            <a:ext cx="191658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58%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377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A5276"/>
                </a:solidFill>
                <a:latin typeface="Yu Gothic"/>
              </a:defRPr>
            </a:pPr>
            <a:r>
              <a:t>月40h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Yu Gothic"/>
              </a:defRPr>
            </a:pPr>
            <a:r>
              <a:t>経営企画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2926080"/>
            <a:ext cx="3383280" cy="256032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94560" y="2926080"/>
            <a:ext cx="1759305" cy="256032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2926080"/>
            <a:ext cx="171358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52%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8803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A5276"/>
                </a:solidFill>
                <a:latin typeface="Yu Gothic"/>
              </a:defRPr>
            </a:pPr>
            <a:r>
              <a:t>月35h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83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Yu Gothic"/>
              </a:defRPr>
            </a:pPr>
            <a:r>
              <a:t>情報システム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3429000"/>
            <a:ext cx="3383280" cy="256032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94560" y="3429000"/>
            <a:ext cx="1522476" cy="256032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60" y="3429000"/>
            <a:ext cx="14767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3832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A5276"/>
                </a:solidFill>
                <a:latin typeface="Yu Gothic"/>
              </a:defRPr>
            </a:pPr>
            <a:r>
              <a:t>月28h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1371600"/>
            <a:ext cx="3840480" cy="2011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7E"/>
                </a:solidFill>
                <a:latin typeface="Yu Gothic"/>
              </a:defRPr>
            </a:pPr>
            <a:r>
              <a:t>月間合計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1828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471A3"/>
                </a:solidFill>
                <a:latin typeface="Yu Gothic"/>
              </a:defRPr>
            </a:pPr>
            <a:r>
              <a:t>213時間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24688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● 定型処理 54%</a:t>
            </a:r>
          </a:p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● データ集計 21%</a:t>
            </a:r>
          </a:p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● 情報検索 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114800"/>
            <a:ext cx="50800" cy="7315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7240" y="4114800"/>
            <a:ext cx="10652759" cy="73152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206240"/>
            <a:ext cx="10332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Yu Gothic"/>
              </a:defRPr>
            </a:pPr>
            <a:r>
              <a:t>全部門合計で月間213時間がAI自動化の対象。年間換算で2,556時間の削減ポテンシャル。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2E86C1"/>
              </a:gs>
              <a:gs pos="100000">
                <a:srgbClr val="17A2B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34068"/>
                </a:solidFill>
                <a:latin typeface="Yu Gothic"/>
              </a:defRPr>
            </a:pPr>
            <a:r>
              <a:t>国内企業のAI導入動向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4572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097280"/>
                <a:gridCol w="9144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年度</a:t>
                      </a:r>
                    </a:p>
                  </a:txBody>
                  <a:tcPr>
                    <a:solidFill>
                      <a:srgbClr val="1340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大企業</a:t>
                      </a:r>
                    </a:p>
                  </a:txBody>
                  <a:tcPr>
                    <a:solidFill>
                      <a:srgbClr val="1340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中堅企業</a:t>
                      </a:r>
                    </a:p>
                  </a:txBody>
                  <a:tcPr>
                    <a:solidFill>
                      <a:srgbClr val="1340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前年比</a:t>
                      </a:r>
                    </a:p>
                  </a:txBody>
                  <a:tcPr>
                    <a:solidFill>
                      <a:srgbClr val="13406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+19pt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2026（予測）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+17pt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Yu Gothic"/>
              </a:defRPr>
            </a:pPr>
            <a:r>
              <a:t>効果実感の高い領域 TOP5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Yu Gothic"/>
              </a:defRPr>
            </a:pPr>
            <a:r>
              <a:t>文書処理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83080"/>
            <a:ext cx="2286000" cy="256032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1783080"/>
            <a:ext cx="1943100" cy="256032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783080"/>
            <a:ext cx="18973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17373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A5276"/>
                </a:solidFill>
                <a:latin typeface="Yu Gothic"/>
              </a:defRPr>
            </a:pPr>
            <a:r>
              <a:t>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762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Yu Gothic"/>
              </a:defRPr>
            </a:pPr>
            <a:r>
              <a:t>データ分析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221991"/>
            <a:ext cx="2286000" cy="256032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2221991"/>
            <a:ext cx="1737360" cy="256032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221991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76%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21762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A5276"/>
                </a:solidFill>
                <a:latin typeface="Yu Gothic"/>
              </a:defRPr>
            </a:pPr>
            <a:r>
              <a:t>76%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151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Yu Gothic"/>
              </a:defRPr>
            </a:pPr>
            <a:r>
              <a:t>顧客対応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660903"/>
            <a:ext cx="2286000" cy="256032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660903"/>
            <a:ext cx="1554480" cy="256032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66090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68%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261518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A5276"/>
                </a:solidFill>
                <a:latin typeface="Yu Gothic"/>
              </a:defRPr>
            </a:pPr>
            <a:r>
              <a:t>68%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0540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Yu Gothic"/>
              </a:defRPr>
            </a:pPr>
            <a:r>
              <a:t>ナレッジ共有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099815"/>
            <a:ext cx="2286000" cy="256032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0" y="3099815"/>
            <a:ext cx="1417320" cy="256032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09981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62%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05409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A5276"/>
                </a:solidFill>
                <a:latin typeface="Yu Gothic"/>
              </a:defRPr>
            </a:pPr>
            <a:r>
              <a:t>62%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4930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Yu Gothic"/>
              </a:defRPr>
            </a:pPr>
            <a:r>
              <a:t>コード生成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538727"/>
            <a:ext cx="2286000" cy="256032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3538727"/>
            <a:ext cx="1234440" cy="256032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353872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54%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34930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A5276"/>
                </a:solidFill>
                <a:latin typeface="Yu Gothic"/>
              </a:defRPr>
            </a:pPr>
            <a:r>
              <a:t>54%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840480"/>
            <a:ext cx="50800" cy="7315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7240" y="3840480"/>
            <a:ext cx="5257800" cy="73152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931920"/>
            <a:ext cx="4937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Yu Gothic"/>
              </a:defRPr>
            </a:pPr>
            <a:r>
              <a:t>未導入リスク：競合との生産性格差が拡大。2026年は「導入の最終ウィンドウ」。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3840480"/>
            <a:ext cx="4846320" cy="73152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39319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Yu Gothic"/>
              </a:defRPr>
            </a:pPr>
            <a:r>
              <a:t>当社の注力3領域（文書・分析・ナレッジ）は</a:t>
            </a:r>
            <a:br/>
            <a:r>
              <a:t>いずれもTOP5に入る高効果領域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</a:defRPr>
            </a:pPr>
            <a:r>
              <a:t>出典：総務省 AI利活用実態調査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34068"/>
              </a:gs>
              <a:gs pos="100000">
                <a:srgbClr val="2471A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5486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0" b="1">
                <a:solidFill>
                  <a:srgbClr val="FFFFFF"/>
                </a:solidFill>
                <a:latin typeface="Yu Gothic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AI活用戦略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5661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5C1E9"/>
                </a:solidFill>
                <a:latin typeface="Yu Gothic"/>
              </a:defRPr>
            </a:pPr>
            <a:r>
              <a:t>3つの重点施策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2E86C1"/>
              </a:gs>
              <a:gs pos="100000">
                <a:srgbClr val="17A2B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34068"/>
                </a:solidFill>
                <a:latin typeface="Yu Gothic"/>
              </a:defRPr>
            </a:pPr>
            <a:r>
              <a:t>業務効率化の3本柱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438912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1371600"/>
            <a:ext cx="1097280" cy="292608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5276"/>
                </a:solidFill>
                <a:latin typeface="Yu Gothic"/>
              </a:defRPr>
            </a:pPr>
            <a:r>
              <a:t>施策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34068"/>
                </a:solidFill>
                <a:latin typeface="Yu Gothic"/>
              </a:defRPr>
            </a:pPr>
            <a:r>
              <a:t>ドキュメント処理</a:t>
            </a:r>
            <a:br/>
            <a:r>
              <a:t>自動化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請求書・契約書・レポートの</a:t>
            </a:r>
            <a:br/>
            <a:r>
              <a:t>読取・生成・要約をAIで自動化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471A3"/>
                </a:solidFill>
                <a:latin typeface="Yu Gothic"/>
              </a:defRPr>
            </a:pPr>
            <a:r>
              <a:t>-40%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処理時間削減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188720"/>
            <a:ext cx="3383280" cy="438912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A3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77840" y="1371600"/>
            <a:ext cx="1097280" cy="292608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5276"/>
                </a:solidFill>
                <a:latin typeface="Yu Gothic"/>
              </a:defRPr>
            </a:pPr>
            <a:r>
              <a:t>施策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34068"/>
                </a:solidFill>
                <a:latin typeface="Yu Gothic"/>
              </a:defRPr>
            </a:pPr>
            <a:r>
              <a:t>データ分析</a:t>
            </a:r>
            <a:br/>
            <a:r>
              <a:t>意思決定支援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43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売上・KPIの自動集計と</a:t>
            </a:r>
            <a:br/>
            <a:r>
              <a:t>AIによるインサイト抽出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657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471A3"/>
                </a:solidFill>
                <a:latin typeface="Yu Gothic"/>
              </a:defRPr>
            </a:pPr>
            <a:r>
              <a:t>3x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297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分析速度向上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188720"/>
            <a:ext cx="3383280" cy="438912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9E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0" y="1371600"/>
            <a:ext cx="1097280" cy="292608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5276"/>
                </a:solidFill>
                <a:latin typeface="Yu Gothic"/>
              </a:defRPr>
            </a:pPr>
            <a:r>
              <a:t>施策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34068"/>
                </a:solidFill>
                <a:latin typeface="Yu Gothic"/>
              </a:defRPr>
            </a:pPr>
            <a:r>
              <a:t>社内ナレッジ</a:t>
            </a:r>
            <a:br/>
            <a:r>
              <a:t>AI活用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43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社内文書・議事録・マニュアルを</a:t>
            </a:r>
            <a:br/>
            <a:r>
              <a:t>AIが横断検索・回答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57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471A3"/>
                </a:solidFill>
                <a:latin typeface="Yu Gothic"/>
              </a:defRPr>
            </a:pPr>
            <a:r>
              <a:t>-65%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297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情報検索時間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2E86C1"/>
              </a:gs>
              <a:gs pos="100000">
                <a:srgbClr val="17A2B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34068"/>
                </a:solidFill>
                <a:latin typeface="Yu Gothic"/>
              </a:defRPr>
            </a:pPr>
            <a:r>
              <a:t>施策1：ドキュメント処理の自動化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Yu Gothic"/>
              </a:defRPr>
            </a:pPr>
            <a:r>
              <a:t>Before → After 比較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097280"/>
                <a:gridCol w="9144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業務</a:t>
                      </a:r>
                    </a:p>
                  </a:txBody>
                  <a:tcPr>
                    <a:solidFill>
                      <a:srgbClr val="1340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現状</a:t>
                      </a:r>
                    </a:p>
                  </a:txBody>
                  <a:tcPr>
                    <a:solidFill>
                      <a:srgbClr val="1340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AI導入後</a:t>
                      </a:r>
                    </a:p>
                  </a:txBody>
                  <a:tcPr>
                    <a:solidFill>
                      <a:srgbClr val="1340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削減率</a:t>
                      </a:r>
                    </a:p>
                  </a:txBody>
                  <a:tcPr>
                    <a:solidFill>
                      <a:srgbClr val="13406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請求書処理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15分/件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3分/件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-80%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契約書レビュー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2時間/件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30分/件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-75%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月次レポート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8時間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2時間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-75%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議事録作成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45分/回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5分/回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-89%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3657600"/>
            <a:ext cx="50800" cy="7315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3657600"/>
            <a:ext cx="5257800" cy="73152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4937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Yu Gothic"/>
              </a:defRPr>
            </a:pPr>
            <a:r>
              <a:t>年間削減：約2,100時間 — FTE換算で1.2名分の人的リソースを創出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097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Yu Gothic"/>
              </a:defRPr>
            </a:pPr>
            <a:r>
              <a:t>導入ツール構成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554480"/>
            <a:ext cx="4846320" cy="14630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6459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71A3"/>
                </a:solidFill>
                <a:latin typeface="Yu Gothic"/>
              </a:defRPr>
            </a:pPr>
            <a:r>
              <a:t>Claude API + RAG基盤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01168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・社内文書の読取・分類・要約</a:t>
            </a:r>
          </a:p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・テンプレートベースの文書生成</a:t>
            </a:r>
          </a:p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・複数文書の横断比較分析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200400"/>
            <a:ext cx="4846320" cy="14630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2918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471A3"/>
                </a:solidFill>
                <a:latin typeface="Yu Gothic"/>
              </a:defRPr>
            </a:pPr>
            <a:r>
              <a:t>OCR + ワークフロー連携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65760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・紙書類のデジタル化自動処理</a:t>
            </a:r>
          </a:p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・既存システムとのAPI連携</a:t>
            </a:r>
          </a:p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・承認フローの自動ルーティング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2E86C1"/>
              </a:gs>
              <a:gs pos="100000">
                <a:srgbClr val="17A2B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34068"/>
                </a:solidFill>
                <a:latin typeface="Yu Gothic"/>
              </a:defRPr>
            </a:pPr>
            <a:r>
              <a:t>施策2：データ分析・意思決定支援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Yu Gothic"/>
              </a:defRPr>
            </a:pPr>
            <a:r>
              <a:t>現状の課題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57200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3619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631"/>
                </a:solidFill>
                <a:latin typeface="Yu Gothic"/>
              </a:defRPr>
            </a:pPr>
            <a:r>
              <a:t>レポート作成に過大な工数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月次レポートの集計・可視化に毎月40h以上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457200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6771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631"/>
                </a:solidFill>
                <a:latin typeface="Yu Gothic"/>
              </a:defRPr>
            </a:pPr>
            <a:r>
              <a:t>データのサイロ化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1460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部門間でデータ定義・形式が不統一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45720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9923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631"/>
                </a:solidFill>
                <a:latin typeface="Yu Gothic"/>
              </a:defRPr>
            </a:pPr>
            <a:r>
              <a:t>分析の属人化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461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特定メンバーに依存した分析業務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097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Yu Gothic"/>
              </a:defRPr>
            </a:pPr>
            <a:r>
              <a:t>AIソリューション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1554480"/>
            <a:ext cx="320040" cy="3200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53619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631"/>
                </a:solidFill>
                <a:latin typeface="Yu Gothic"/>
              </a:defRPr>
            </a:pPr>
            <a:r>
              <a:t>自動ダッシュボード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75564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KPI自動集計 → リアルタイム可視化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2194560"/>
            <a:ext cx="320040" cy="3200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17627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631"/>
                </a:solidFill>
                <a:latin typeface="Yu Gothic"/>
              </a:defRPr>
            </a:pPr>
            <a:r>
              <a:t>異常値の自動検知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39572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閾値超過や急変をSlack/メールで即通知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2834639"/>
            <a:ext cx="320040" cy="3200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816351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631"/>
                </a:solidFill>
                <a:latin typeface="Yu Gothic"/>
              </a:defRPr>
            </a:pPr>
            <a:r>
              <a:t>自然言語クエリ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03580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「先月の売上トップ3は？」で即回答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474720"/>
            <a:ext cx="320040" cy="3200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45643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631"/>
                </a:solidFill>
                <a:latin typeface="Yu Gothic"/>
              </a:defRPr>
            </a:pPr>
            <a:r>
              <a:t>予測・シナリオ分析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675887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AIが複数シナリオを自動シミュレーション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297680"/>
            <a:ext cx="4846320" cy="4572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4389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Yu Gothic"/>
              </a:defRPr>
            </a:pPr>
            <a:r>
              <a:t>分析リードタイム：5日 → 当日（即時）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2E86C1"/>
              </a:gs>
              <a:gs pos="100000">
                <a:srgbClr val="17A2B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34068"/>
                </a:solidFill>
                <a:latin typeface="Yu Gothic"/>
              </a:defRPr>
            </a:pPr>
            <a:r>
              <a:t>施策3：社内ナレッジのAI活用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41148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● 社内AIアシスタント — Online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737360"/>
            <a:ext cx="3840480" cy="411480"/>
          </a:xfrm>
          <a:prstGeom prst="round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2631"/>
                </a:solidFill>
                <a:latin typeface="Yu Gothic"/>
              </a:defRPr>
            </a:pPr>
            <a:r>
              <a:t>出張旅費の精算ルールを教えて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4114800" cy="7772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33172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Yu Gothic"/>
              </a:defRPr>
            </a:pPr>
            <a:r>
              <a:t>出張旅費規程（2026年改定版）に基づき、</a:t>
            </a:r>
            <a:br/>
            <a:r>
              <a:t>日当は役職別に設定されています。</a:t>
            </a:r>
            <a:br/>
            <a:r>
              <a:t>部長以上：12,000円、課長：10,000円…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291840"/>
            <a:ext cx="4389120" cy="411480"/>
          </a:xfrm>
          <a:prstGeom prst="round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B2631"/>
                </a:solidFill>
                <a:latin typeface="Yu Gothic"/>
              </a:defRPr>
            </a:pPr>
            <a:r>
              <a:t>前回の取締役会で決まった優先投資案件は？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931920"/>
            <a:ext cx="411480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97763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Yu Gothic"/>
              </a:defRPr>
            </a:pPr>
            <a:r>
              <a:t>3月度取締役会議事録より、</a:t>
            </a:r>
            <a:br/>
            <a:r>
              <a:t>以下の3案件が承認されました…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097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Yu Gothic"/>
              </a:defRPr>
            </a:pPr>
            <a:r>
              <a:t>構築アプローチ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554480"/>
            <a:ext cx="4846320" cy="100584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6459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71A3"/>
                </a:solidFill>
                <a:latin typeface="Yu Gothic"/>
              </a:defRPr>
            </a:pPr>
            <a:r>
              <a:t>RAG（検索拡張生成）基盤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9659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社内文書をベクトルDBに格納。質問に対し</a:t>
            </a:r>
            <a:br/>
            <a:r>
              <a:t>関連情報を検索→AIが根拠付きで回答を生成。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743200"/>
            <a:ext cx="4846320" cy="10972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8346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71A3"/>
                </a:solidFill>
                <a:latin typeface="Yu Gothic"/>
              </a:defRPr>
            </a:pPr>
            <a:r>
              <a:t>対象データソース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15468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・社内規程・マニュアル — 350件</a:t>
            </a:r>
          </a:p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・議事録・報告書 — 年間2,000件</a:t>
            </a:r>
          </a:p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・FAQ・問い合わせ履歴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114800"/>
            <a:ext cx="2286000" cy="13716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A3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2976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471A3"/>
                </a:solidFill>
                <a:latin typeface="Yu Gothic"/>
              </a:defRPr>
            </a:pPr>
            <a:r>
              <a:t>-65%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7E"/>
                </a:solidFill>
                <a:latin typeface="Yu Gothic"/>
              </a:defRPr>
            </a:pPr>
            <a:r>
              <a:t>検索時間削減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114800"/>
            <a:ext cx="2286000" cy="13716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A3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42976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471A3"/>
                </a:solidFill>
                <a:latin typeface="Yu Gothic"/>
              </a:defRPr>
            </a:pPr>
            <a:r>
              <a:t>-30%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7E"/>
                </a:solidFill>
                <a:latin typeface="Yu Gothic"/>
              </a:defRPr>
            </a:pPr>
            <a:r>
              <a:t>オンボーディング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34068"/>
              </a:gs>
              <a:gs pos="100000">
                <a:srgbClr val="2471A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5486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0" b="1">
                <a:solidFill>
                  <a:srgbClr val="FFFFFF"/>
                </a:solidFill>
                <a:latin typeface="Yu Gothic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投資対効果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5661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5C1E9"/>
                </a:solidFill>
                <a:latin typeface="Yu Gothic"/>
              </a:defRPr>
            </a:pPr>
            <a:r>
              <a:t>ROI試算とロードマップ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2E86C1"/>
              </a:gs>
              <a:gs pos="100000">
                <a:srgbClr val="17A2B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34068"/>
                </a:solidFill>
                <a:latin typeface="Yu Gothic"/>
              </a:defRPr>
            </a:pPr>
            <a:r>
              <a:t>ROI試算（3年間）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00400" cy="13716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初期投資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276"/>
                </a:solidFill>
                <a:latin typeface="Yu Gothic"/>
              </a:defRPr>
            </a:pPr>
            <a:r>
              <a:t>3,200万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D6D7E"/>
                </a:solidFill>
                <a:latin typeface="Yu Gothic"/>
              </a:defRPr>
            </a:pPr>
            <a:r>
              <a:t>開発・導入・研修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188720"/>
            <a:ext cx="3200400" cy="13716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344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年間運用費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5544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276"/>
                </a:solidFill>
                <a:latin typeface="Yu Gothic"/>
              </a:defRPr>
            </a:pPr>
            <a:r>
              <a:t>960万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D6D7E"/>
                </a:solidFill>
                <a:latin typeface="Yu Gothic"/>
              </a:defRPr>
            </a:pPr>
            <a:r>
              <a:t>API・保守・改善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188720"/>
            <a:ext cx="3200400" cy="1371600"/>
          </a:xfrm>
          <a:prstGeom prst="roundRect">
            <a:avLst/>
          </a:prstGeom>
          <a:solidFill>
            <a:srgbClr val="2471A3"/>
          </a:solidFill>
          <a:ln w="127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2344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DDEE"/>
                </a:solidFill>
                <a:latin typeface="Yu Gothic"/>
              </a:defRPr>
            </a:pPr>
            <a:r>
              <a:t>年間効果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5544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Yu Gothic"/>
              </a:defRPr>
            </a:pPr>
            <a:r>
              <a:t>1.2億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EE"/>
                </a:solidFill>
                <a:latin typeface="Yu Gothic"/>
              </a:defRPr>
            </a:pPr>
            <a:r>
              <a:t>工数削減+生産性向上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5C1E9"/>
                </a:solidFill>
                <a:latin typeface="Yu Gothic"/>
              </a:defRPr>
            </a:pPr>
            <a: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5C1E9"/>
                </a:solidFill>
                <a:latin typeface="Yu Gothic"/>
              </a:defRPr>
            </a:pPr>
            <a:r>
              <a:t>▶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292608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340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1年目</a:t>
                      </a:r>
                    </a:p>
                  </a:txBody>
                  <a:tcPr>
                    <a:solidFill>
                      <a:srgbClr val="1340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2年目</a:t>
                      </a:r>
                    </a:p>
                  </a:txBody>
                  <a:tcPr>
                    <a:solidFill>
                      <a:srgbClr val="1340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3年目</a:t>
                      </a:r>
                    </a:p>
                  </a:txBody>
                  <a:tcPr>
                    <a:solidFill>
                      <a:srgbClr val="13406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コスト効果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5,800万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9,400万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1.2億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投資額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4,160万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960万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960万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純効果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1,640万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8,440万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1.1億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累計純効果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1,640万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1.01億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2.11億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7589520" y="2926080"/>
            <a:ext cx="2011680" cy="13716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3108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471A3"/>
                </a:solidFill>
                <a:latin typeface="Yu Gothic"/>
              </a:defRPr>
            </a:pPr>
            <a:r>
              <a:t>8ヶ月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7E"/>
                </a:solidFill>
                <a:latin typeface="Yu Gothic"/>
              </a:defRPr>
            </a:pPr>
            <a:r>
              <a:t>投資回収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2926080"/>
            <a:ext cx="2011680" cy="13716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3108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471A3"/>
                </a:solidFill>
                <a:latin typeface="Yu Gothic"/>
              </a:defRPr>
            </a:pPr>
            <a:r>
              <a:t>340%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7E"/>
                </a:solidFill>
                <a:latin typeface="Yu Gothic"/>
              </a:defRPr>
            </a:pPr>
            <a:r>
              <a:t>3年累計ROI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2E86C1"/>
              </a:gs>
              <a:gs pos="100000">
                <a:srgbClr val="17A2B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34068"/>
                </a:solidFill>
                <a:latin typeface="Yu Gothic"/>
              </a:defRPr>
            </a:pPr>
            <a:r>
              <a:t>導入ロードマップ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640080"/>
          </a:xfrm>
          <a:prstGeom prst="round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0700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DDEE"/>
                </a:solidFill>
                <a:latin typeface="Yu Gothic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1〜2ヶ月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188720"/>
            <a:ext cx="3383280" cy="6400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20700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D6D7E"/>
                </a:solidFill>
                <a:latin typeface="Yu Gothic"/>
              </a:defRPr>
            </a:pPr>
            <a: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417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Yu Gothic"/>
              </a:defRPr>
            </a:pPr>
            <a:r>
              <a:t>3〜4ヶ月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3383280" cy="6400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0700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D6D7E"/>
                </a:solidFill>
                <a:latin typeface="Yu Gothic"/>
              </a:defRPr>
            </a:pPr>
            <a: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417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  <a:latin typeface="Yu Gothic"/>
              </a:defRPr>
            </a:pPr>
            <a:r>
              <a:t>5〜6ヶ月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03120"/>
            <a:ext cx="3383280" cy="32004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276"/>
                </a:solidFill>
                <a:latin typeface="Yu Gothic"/>
              </a:defRPr>
            </a:pPr>
            <a:r>
              <a:t>基盤構築・PoC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603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・AI基盤環境構築</a:t>
            </a:r>
          </a:p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・ドキュメント自動化PoC（経理）</a:t>
            </a:r>
          </a:p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・ナレッジDB設計・初期投入</a:t>
            </a:r>
          </a:p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・セキュリティ・ガバナンス整備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D6D7E"/>
                </a:solidFill>
                <a:latin typeface="Yu Gothic"/>
              </a:defRPr>
            </a:pPr>
            <a:r>
              <a:t>ゴール：PoC成功・効果実証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2103120"/>
            <a:ext cx="3383280" cy="32004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A3E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276"/>
                </a:solidFill>
                <a:latin typeface="Yu Gothic"/>
              </a:defRPr>
            </a:pPr>
            <a:r>
              <a:t>本格導入・展開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5603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・ドキュメント自動化を全部門展開</a:t>
            </a:r>
          </a:p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・データ分析ダッシュボード構築</a:t>
            </a:r>
          </a:p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・AIアシスタント β版リリース</a:t>
            </a:r>
          </a:p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・利用者トレーニング実施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572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D6D7E"/>
                </a:solidFill>
                <a:latin typeface="Yu Gothic"/>
              </a:defRPr>
            </a:pPr>
            <a:r>
              <a:t>ゴール：日常業務に定着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103120"/>
            <a:ext cx="3383280" cy="3200400"/>
          </a:xfrm>
          <a:prstGeom prst="roundRect">
            <a:avLst/>
          </a:prstGeom>
          <a:solidFill>
            <a:srgbClr val="FEF9E7"/>
          </a:solidFill>
          <a:ln w="12700">
            <a:solidFill>
              <a:srgbClr val="F9E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276"/>
                </a:solidFill>
                <a:latin typeface="Yu Gothic"/>
              </a:defRPr>
            </a:pPr>
            <a:r>
              <a:t>最適化・発展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5603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・利用データに基づく精度改善</a:t>
            </a:r>
          </a:p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・予測分析・シナリオ機能追加</a:t>
            </a:r>
          </a:p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・外部データ連携の拡充</a:t>
            </a:r>
          </a:p>
          <a:p>
            <a:pPr>
              <a:spcAft>
                <a:spcPts val="500"/>
              </a:spcAft>
              <a:defRPr sz="1000">
                <a:solidFill>
                  <a:srgbClr val="2C3E50"/>
                </a:solidFill>
                <a:latin typeface="Yu Gothic"/>
              </a:defRPr>
            </a:pPr>
            <a:r>
              <a:t>・次年度計画の策定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572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D6D7E"/>
                </a:solidFill>
                <a:latin typeface="Yu Gothic"/>
              </a:defRPr>
            </a:pPr>
            <a:r>
              <a:t>ゴール：ROI達成・拡大計画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2E86C1"/>
              </a:gs>
              <a:gs pos="100000">
                <a:srgbClr val="17A2B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34068"/>
                </a:solidFill>
                <a:latin typeface="Yu Gothic"/>
              </a:defRPr>
            </a:pPr>
            <a:r>
              <a:t>想定リスクと対策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9418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2286000"/>
                <a:gridCol w="32004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重要度</a:t>
                      </a:r>
                    </a:p>
                  </a:txBody>
                  <a:tcPr>
                    <a:solidFill>
                      <a:srgbClr val="1340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リスク</a:t>
                      </a:r>
                    </a:p>
                  </a:txBody>
                  <a:tcPr>
                    <a:solidFill>
                      <a:srgbClr val="1340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影響</a:t>
                      </a:r>
                    </a:p>
                  </a:txBody>
                  <a:tcPr>
                    <a:solidFill>
                      <a:srgbClr val="1340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対策</a:t>
                      </a:r>
                    </a:p>
                  </a:txBody>
                  <a:tcPr>
                    <a:solidFill>
                      <a:srgbClr val="1340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担当</a:t>
                      </a:r>
                    </a:p>
                  </a:txBody>
                  <a:tcPr>
                    <a:solidFill>
                      <a:srgbClr val="13406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情報セキュリティ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機密データの外部漏洩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VPC環境、暗号化、アクセス制御の多層化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情報システム部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AIの回答精度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ハルシネーションによる誤情報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RAG根拠明示、人間レビュー、信頼度スコア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AI推進チーム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社内定着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利用率低迷で効果限定的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チェンジマネジメント、部門推進者配置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経営企画部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コスト超過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API利用量の想定超過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利用量監視、キャッシュ戦略、月次レビュー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経理・情シス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技術陳腐化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モデル更新による設計変更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マルチモデル抽象化、四半期技術レビュー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AI推進チーム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4389120"/>
            <a:ext cx="50800" cy="7315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4389120"/>
            <a:ext cx="10652759" cy="73152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80559"/>
            <a:ext cx="10332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Yu Gothic"/>
              </a:defRPr>
            </a:pPr>
            <a:r>
              <a:t>リスク軽減方針：Phase 1のPoC期間でセキュリティ・精度検証を完了し、本格展開前にガバナンス体制を確立。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2E86C1"/>
              </a:gs>
              <a:gs pos="100000">
                <a:srgbClr val="17A2B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34068"/>
                </a:solidFill>
                <a:latin typeface="Yu Gothic"/>
              </a:defRPr>
            </a:pPr>
            <a:r>
              <a:t>まとめ・ネクストステップ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Yu Gothic"/>
              </a:defRPr>
            </a:pPr>
            <a:r>
              <a:t>提案サマリー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188720" cy="13716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471A3"/>
                </a:solidFill>
                <a:latin typeface="Yu Gothic"/>
              </a:defRPr>
            </a:pPr>
            <a:r>
              <a:t>4,800h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7E"/>
                </a:solidFill>
                <a:latin typeface="Yu Gothic"/>
              </a:defRPr>
            </a:pPr>
            <a:r>
              <a:t>年間削減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554480"/>
            <a:ext cx="1188720" cy="13716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73736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471A3"/>
                </a:solidFill>
                <a:latin typeface="Yu Gothic"/>
              </a:defRPr>
            </a:pPr>
            <a:r>
              <a:t>1.2億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331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7E"/>
                </a:solidFill>
                <a:latin typeface="Yu Gothic"/>
              </a:defRPr>
            </a:pPr>
            <a:r>
              <a:t>年間効果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554480"/>
            <a:ext cx="1188720" cy="13716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73736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471A3"/>
                </a:solidFill>
                <a:latin typeface="Yu Gothic"/>
              </a:defRPr>
            </a:pPr>
            <a:r>
              <a:t>340%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331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7E"/>
                </a:solidFill>
                <a:latin typeface="Yu Gothic"/>
              </a:defRPr>
            </a:pPr>
            <a:r>
              <a:t>3年ROI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554480"/>
            <a:ext cx="1188720" cy="13716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59" y="173736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471A3"/>
                </a:solidFill>
                <a:latin typeface="Yu Gothic"/>
              </a:defRPr>
            </a:pPr>
            <a:r>
              <a:t>8ヶ月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2331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7E"/>
                </a:solidFill>
                <a:latin typeface="Yu Gothic"/>
              </a:defRPr>
            </a:pPr>
            <a:r>
              <a:t>投資回収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91840"/>
            <a:ext cx="50800" cy="7315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291840"/>
            <a:ext cx="5257800" cy="73152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83280"/>
            <a:ext cx="4937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Yu Gothic"/>
              </a:defRPr>
            </a:pPr>
            <a:r>
              <a:t>AI導入は「コスト削減」と「意思決定の質・速度向上」の両方を実現する戦略投資。早期着手が競争優位の源泉。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097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Yu Gothic"/>
              </a:defRPr>
            </a:pPr>
            <a:r>
              <a:t>ネクストステップ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1554480"/>
            <a:ext cx="320040" cy="3200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53619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631"/>
                </a:solidFill>
                <a:latin typeface="Yu Gothic"/>
              </a:defRPr>
            </a:pPr>
            <a:r>
              <a:t>経営会議での承認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75564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本提案の方針決定 — 3月中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2194560"/>
            <a:ext cx="320040" cy="3200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17627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631"/>
                </a:solidFill>
                <a:latin typeface="Yu Gothic"/>
              </a:defRPr>
            </a:pPr>
            <a:r>
              <a:t>プロジェクト体制構築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39572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推進チーム発足・部門推進者選定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2834639"/>
            <a:ext cx="320040" cy="3200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816351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631"/>
                </a:solidFill>
                <a:latin typeface="Yu Gothic"/>
              </a:defRPr>
            </a:pPr>
            <a:r>
              <a:t>PoC対象業務の確定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03580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経理部門のドキュメント処理を推奨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3474720"/>
            <a:ext cx="320040" cy="3200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45643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631"/>
                </a:solidFill>
                <a:latin typeface="Yu Gothic"/>
              </a:defRPr>
            </a:pPr>
            <a:r>
              <a:t>Phase 1 キックオフ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675887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D6D7E"/>
                </a:solidFill>
                <a:latin typeface="Yu Gothic"/>
              </a:defRPr>
            </a:pPr>
            <a:r>
              <a:t>4月第2週を目標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4297680"/>
            <a:ext cx="4846320" cy="731520"/>
          </a:xfrm>
          <a:prstGeom prst="roundRect">
            <a:avLst/>
          </a:prstGeom>
          <a:solidFill>
            <a:srgbClr val="13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43891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ED6F1"/>
                </a:solidFill>
                <a:latin typeface="Yu Gothic"/>
              </a:defRPr>
            </a:pPr>
            <a:r>
              <a:t>ご質問・ご要望をお聞かせください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70916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DADE2"/>
                </a:solidFill>
                <a:latin typeface="Yu Gothic"/>
              </a:defRPr>
            </a:pPr>
            <a:r>
              <a:t>経営企画部 AI推進担当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D7E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